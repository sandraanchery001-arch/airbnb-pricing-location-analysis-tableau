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58" r:id="rId5"/>
    <p:sldId id="262" r:id="rId6"/>
    <p:sldId id="263" r:id="rId7"/>
    <p:sldId id="264" r:id="rId8"/>
    <p:sldId id="265" r:id="rId9"/>
    <p:sldId id="266" r:id="rId10"/>
    <p:sldId id="259" r:id="rId11"/>
    <p:sldId id="267" r:id="rId12"/>
    <p:sldId id="26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2" clrIdx="0">
    <p:extLst>
      <p:ext uri="{19B8F6BF-5375-455C-9EA6-DF929625EA0E}">
        <p15:presenceInfo xmlns:p15="http://schemas.microsoft.com/office/powerpoint/2012/main" userId="b7ecfdabe511ee0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5T21:46:49.555" idx="2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F21C9-1917-4FFD-8349-CA073F30C51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507F5-4E20-4C41-B9AB-32A1C7AAF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57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Extra large : 37k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1507F5-4E20-4C41-B9AB-32A1C7AAFF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87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Balance pricing with customer reviews.</a:t>
            </a:r>
            <a:endParaRPr lang="en-US" dirty="0" smtClean="0"/>
          </a:p>
          <a:p>
            <a:r>
              <a:rPr lang="en-US" dirty="0" smtClean="0">
                <a:effectLst/>
              </a:rPr>
              <a:t>Offer more listings in high‑demand neighborhoods.</a:t>
            </a:r>
            <a:endParaRPr lang="en-US" dirty="0" smtClean="0"/>
          </a:p>
          <a:p>
            <a:r>
              <a:rPr lang="en-US" dirty="0" smtClean="0">
                <a:effectLst/>
              </a:rPr>
              <a:t>Focus on entire homes, since they match market preference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1507F5-4E20-4C41-B9AB-32A1C7AAFF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28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Airbnb Pricing &amp; Location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Tableau project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642764" y="5172364"/>
            <a:ext cx="2290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SANDRA 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73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Analyze how pricing, location and property features affect Airbnb listing &amp; improve pricing strategy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01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4" y="380736"/>
            <a:ext cx="11446232" cy="609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9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Entire home/apt has the highest average price; shared rooms </a:t>
            </a:r>
            <a:r>
              <a:rPr lang="en-US" dirty="0" smtClean="0"/>
              <a:t>lowest</a:t>
            </a:r>
          </a:p>
          <a:p>
            <a:r>
              <a:rPr lang="en-US" b="1" dirty="0"/>
              <a:t>Insight:</a:t>
            </a:r>
            <a:r>
              <a:rPr lang="en-US" dirty="0"/>
              <a:t> Room type strongly influences </a:t>
            </a:r>
            <a:r>
              <a:rPr lang="en-US" dirty="0" smtClean="0"/>
              <a:t>pricing</a:t>
            </a:r>
          </a:p>
          <a:p>
            <a:r>
              <a:rPr lang="en-US" b="1" dirty="0"/>
              <a:t>Suggestion:</a:t>
            </a:r>
            <a:r>
              <a:rPr lang="en-US" dirty="0"/>
              <a:t> Hosts can maximize revenue by offering entire homes in premium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192" y="1978429"/>
            <a:ext cx="11029615" cy="781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81192" y="2107517"/>
            <a:ext cx="645137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AVERAGE PRICE BY ROOM TYPE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075" y="3020264"/>
            <a:ext cx="5422900" cy="259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5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Distribution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415443"/>
            <a:ext cx="5422900" cy="3257426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Most listings cluster in lower price ranges</a:t>
            </a:r>
          </a:p>
          <a:p>
            <a:r>
              <a:rPr lang="en-US" b="1" dirty="0"/>
              <a:t>Insight:</a:t>
            </a:r>
            <a:r>
              <a:rPr lang="en-US" dirty="0"/>
              <a:t> Market is dominated by affordable options, with few luxury outliers</a:t>
            </a:r>
          </a:p>
          <a:p>
            <a:r>
              <a:rPr lang="en-US" b="1" dirty="0"/>
              <a:t>Suggestion:</a:t>
            </a:r>
            <a:r>
              <a:rPr lang="en-US" dirty="0"/>
              <a:t> Position premium listings carefully to stand out</a:t>
            </a:r>
          </a:p>
        </p:txBody>
      </p:sp>
    </p:spTree>
    <p:extLst>
      <p:ext uri="{BB962C8B-B14F-4D97-AF65-F5344CB8AC3E}">
        <p14:creationId xmlns:p14="http://schemas.microsoft.com/office/powerpoint/2010/main" val="3299938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</a:t>
            </a:r>
            <a:r>
              <a:rPr lang="en-US" dirty="0" smtClean="0"/>
              <a:t>Neighborhoods </a:t>
            </a:r>
            <a:r>
              <a:rPr lang="en-US" dirty="0"/>
              <a:t>by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Malibu leads with the highest prices; other premium </a:t>
            </a:r>
            <a:r>
              <a:rPr lang="en-US" dirty="0" smtClean="0"/>
              <a:t>area is </a:t>
            </a:r>
            <a:r>
              <a:rPr lang="en-US" dirty="0"/>
              <a:t>Bel </a:t>
            </a:r>
            <a:r>
              <a:rPr lang="en-US" dirty="0" smtClean="0"/>
              <a:t>Air</a:t>
            </a:r>
          </a:p>
          <a:p>
            <a:r>
              <a:rPr lang="en-US" b="1" dirty="0"/>
              <a:t>Insight:</a:t>
            </a:r>
            <a:r>
              <a:rPr lang="en-US" dirty="0"/>
              <a:t> Location is a major determinant of pricing </a:t>
            </a:r>
            <a:r>
              <a:rPr lang="en-US" dirty="0" smtClean="0"/>
              <a:t>power</a:t>
            </a:r>
          </a:p>
          <a:p>
            <a:r>
              <a:rPr lang="en-US" b="1" dirty="0"/>
              <a:t>Suggestion:</a:t>
            </a:r>
            <a:r>
              <a:rPr lang="en-US" dirty="0"/>
              <a:t> Focus marketing on premium neighborhoods to attract high‑spending customers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075" y="3151109"/>
            <a:ext cx="5422900" cy="178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2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Listings by Room Type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6224" y="2227263"/>
            <a:ext cx="3692501" cy="3633787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Entire homes/apt dominate (41,310), followed by private rooms (30,638</a:t>
            </a:r>
            <a:r>
              <a:rPr lang="en-US" dirty="0" smtClean="0"/>
              <a:t>)</a:t>
            </a:r>
          </a:p>
          <a:p>
            <a:r>
              <a:rPr lang="en-US" b="1" dirty="0"/>
              <a:t>Insight:</a:t>
            </a:r>
            <a:r>
              <a:rPr lang="en-US" dirty="0"/>
              <a:t> Market preference leans toward full property </a:t>
            </a:r>
            <a:r>
              <a:rPr lang="en-US" dirty="0" smtClean="0"/>
              <a:t>rentals</a:t>
            </a:r>
          </a:p>
          <a:p>
            <a:r>
              <a:rPr lang="en-US" b="1" dirty="0"/>
              <a:t>Suggestion:</a:t>
            </a:r>
            <a:r>
              <a:rPr lang="en-US" dirty="0"/>
              <a:t> Hosts should align offerings with demand for entire homes</a:t>
            </a:r>
          </a:p>
        </p:txBody>
      </p:sp>
    </p:spTree>
    <p:extLst>
      <p:ext uri="{BB962C8B-B14F-4D97-AF65-F5344CB8AC3E}">
        <p14:creationId xmlns:p14="http://schemas.microsoft.com/office/powerpoint/2010/main" val="123206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vs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Higher‑priced listings tend to have fewer </a:t>
            </a:r>
            <a:r>
              <a:rPr lang="en-US" dirty="0" smtClean="0"/>
              <a:t>reviews</a:t>
            </a:r>
          </a:p>
          <a:p>
            <a:r>
              <a:rPr lang="en-US" b="1" dirty="0"/>
              <a:t>Insight: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Price </a:t>
            </a:r>
            <a:r>
              <a:rPr lang="en-US" dirty="0"/>
              <a:t>sensitivity affects customer </a:t>
            </a:r>
            <a:r>
              <a:rPr lang="en-US" dirty="0" smtClean="0"/>
              <a:t>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Higher‑priced listings attract fewer reviews, while affordable ones gain more engagement</a:t>
            </a:r>
            <a:endParaRPr lang="en-US" dirty="0" smtClean="0"/>
          </a:p>
          <a:p>
            <a:r>
              <a:rPr lang="en-US" b="1" dirty="0"/>
              <a:t>Suggestion:</a:t>
            </a:r>
            <a:r>
              <a:rPr lang="en-US" dirty="0"/>
              <a:t> Balance pricing with customer experience to drive reviews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771" y="2227263"/>
            <a:ext cx="3623507" cy="3633787"/>
          </a:xfrm>
        </p:spPr>
      </p:pic>
    </p:spTree>
    <p:extLst>
      <p:ext uri="{BB962C8B-B14F-4D97-AF65-F5344CB8AC3E}">
        <p14:creationId xmlns:p14="http://schemas.microsoft.com/office/powerpoint/2010/main" val="56985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vs Accommodates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840288"/>
          </a:xfrm>
        </p:spPr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Prices steadily drop as capacity decreases, with </a:t>
            </a:r>
            <a:r>
              <a:rPr lang="en-US" b="1" dirty="0"/>
              <a:t>Small listings (~₹8K–10K)</a:t>
            </a:r>
            <a:r>
              <a:rPr lang="en-US" dirty="0"/>
              <a:t> lowest</a:t>
            </a:r>
            <a:endParaRPr lang="en-US" dirty="0" smtClean="0"/>
          </a:p>
          <a:p>
            <a:r>
              <a:rPr lang="en-US" b="1" dirty="0"/>
              <a:t>Insight:</a:t>
            </a:r>
            <a:r>
              <a:rPr lang="en-US" dirty="0"/>
              <a:t> Larger accommodations are positioned as premium, while smaller ones dominate </a:t>
            </a:r>
            <a:r>
              <a:rPr lang="en-US" dirty="0" smtClean="0"/>
              <a:t>affordability</a:t>
            </a:r>
          </a:p>
          <a:p>
            <a:r>
              <a:rPr lang="en-US" b="1" dirty="0" smtClean="0"/>
              <a:t>Suggestion</a:t>
            </a:r>
            <a:r>
              <a:rPr lang="en-US" b="1" dirty="0"/>
              <a:t>: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Market Extra Large listings as luxury experiences to justify premium </a:t>
            </a:r>
            <a:r>
              <a:rPr lang="en-US" dirty="0" smtClean="0"/>
              <a:t>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pricing strategy on </a:t>
            </a:r>
            <a:r>
              <a:rPr lang="en-US" b="1" dirty="0"/>
              <a:t>Medium/Large groups (~₹15K–20K)</a:t>
            </a:r>
            <a:r>
              <a:rPr lang="en-US" dirty="0"/>
              <a:t> where demand and affordability intersect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17" y="2227263"/>
            <a:ext cx="4386315" cy="3633787"/>
          </a:xfrm>
        </p:spPr>
      </p:pic>
    </p:spTree>
    <p:extLst>
      <p:ext uri="{BB962C8B-B14F-4D97-AF65-F5344CB8AC3E}">
        <p14:creationId xmlns:p14="http://schemas.microsoft.com/office/powerpoint/2010/main" val="294314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Pricing is highly influenced by </a:t>
            </a:r>
            <a:r>
              <a:rPr lang="en-US" b="1" dirty="0"/>
              <a:t>room type and </a:t>
            </a:r>
            <a:r>
              <a:rPr lang="en-US" b="1" dirty="0" smtClean="0"/>
              <a:t>neighborhood</a:t>
            </a:r>
          </a:p>
          <a:p>
            <a:r>
              <a:rPr lang="en-US" dirty="0"/>
              <a:t>Market is dominated by </a:t>
            </a:r>
            <a:r>
              <a:rPr lang="en-US" b="1" dirty="0"/>
              <a:t>affordable listings</a:t>
            </a:r>
            <a:r>
              <a:rPr lang="en-US" dirty="0"/>
              <a:t>, but premium areas like Malibu command much higher </a:t>
            </a:r>
            <a:r>
              <a:rPr lang="en-US" dirty="0" smtClean="0"/>
              <a:t>prices</a:t>
            </a:r>
          </a:p>
          <a:p>
            <a:r>
              <a:rPr lang="en-US" b="1" dirty="0"/>
              <a:t>Entire homes</a:t>
            </a:r>
            <a:r>
              <a:rPr lang="en-US" dirty="0"/>
              <a:t> are most popular, aligning with customer preference for </a:t>
            </a:r>
            <a:r>
              <a:rPr lang="en-US" dirty="0" smtClean="0"/>
              <a:t>privacy</a:t>
            </a:r>
          </a:p>
          <a:p>
            <a:r>
              <a:rPr lang="en-US" dirty="0"/>
              <a:t>Higher prices correlate with </a:t>
            </a:r>
            <a:r>
              <a:rPr lang="en-US" b="1" dirty="0"/>
              <a:t>fewer reviews</a:t>
            </a:r>
            <a:r>
              <a:rPr lang="en-US" dirty="0"/>
              <a:t>, showing price sensitivity</a:t>
            </a:r>
          </a:p>
        </p:txBody>
      </p:sp>
    </p:spTree>
    <p:extLst>
      <p:ext uri="{BB962C8B-B14F-4D97-AF65-F5344CB8AC3E}">
        <p14:creationId xmlns:p14="http://schemas.microsoft.com/office/powerpoint/2010/main" val="399414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Hosts:</a:t>
            </a:r>
            <a:r>
              <a:rPr lang="en-US" dirty="0"/>
              <a:t> Adjust pricing strategies based on room type and location </a:t>
            </a:r>
            <a:r>
              <a:rPr lang="en-US" dirty="0" smtClean="0"/>
              <a:t>demand</a:t>
            </a:r>
          </a:p>
          <a:p>
            <a:r>
              <a:rPr lang="en-US" b="1" dirty="0"/>
              <a:t>Businesses:</a:t>
            </a:r>
            <a:r>
              <a:rPr lang="en-US" dirty="0"/>
              <a:t> Target premium neighborhoods for luxury </a:t>
            </a:r>
            <a:r>
              <a:rPr lang="en-US" dirty="0" smtClean="0"/>
              <a:t>offerings</a:t>
            </a:r>
          </a:p>
        </p:txBody>
      </p:sp>
    </p:spTree>
    <p:extLst>
      <p:ext uri="{BB962C8B-B14F-4D97-AF65-F5344CB8AC3E}">
        <p14:creationId xmlns:p14="http://schemas.microsoft.com/office/powerpoint/2010/main" val="81017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Airbnb pricing is shaped by </a:t>
            </a:r>
            <a:r>
              <a:rPr lang="en-US" b="1" dirty="0"/>
              <a:t>room type, neighborhood, and </a:t>
            </a:r>
            <a:r>
              <a:rPr lang="en-US" b="1" dirty="0" smtClean="0"/>
              <a:t>accommodation group</a:t>
            </a:r>
            <a:r>
              <a:rPr lang="en-US" dirty="0" smtClean="0"/>
              <a:t>. </a:t>
            </a:r>
            <a:r>
              <a:rPr lang="en-US" dirty="0"/>
              <a:t>Entire homes in premium areas command the highest prices, while affordable listings dominate overall supply. To optimize performance, hosts and businesses must </a:t>
            </a:r>
            <a:r>
              <a:rPr lang="en-US" b="1" dirty="0"/>
              <a:t>balance pricing with customer engagement, expand offerings in high‑demand neighborhoods, and align with market preferences for entire homes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912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hank You Papercut, Thank You Cut Files Graphic by assalwaassalwa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97" y="2612572"/>
            <a:ext cx="10148911" cy="170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37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423</TotalTime>
  <Words>439</Words>
  <Application>Microsoft Office PowerPoint</Application>
  <PresentationFormat>Widescreen</PresentationFormat>
  <Paragraphs>50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Wingdings 2</vt:lpstr>
      <vt:lpstr>Dividend</vt:lpstr>
      <vt:lpstr>Airbnb Pricing &amp; Location Analysis</vt:lpstr>
      <vt:lpstr>introduction</vt:lpstr>
      <vt:lpstr>PowerPoint Presentation</vt:lpstr>
      <vt:lpstr>analysis</vt:lpstr>
      <vt:lpstr>Price Distribution</vt:lpstr>
      <vt:lpstr>Top 10 Neighborhoods by Price</vt:lpstr>
      <vt:lpstr>Listings by Room Type </vt:lpstr>
      <vt:lpstr>Price vs Reviews</vt:lpstr>
      <vt:lpstr>Price vs Accommodates</vt:lpstr>
      <vt:lpstr>findings</vt:lpstr>
      <vt:lpstr>Suggestions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Pricing &amp; Location Analysis</dc:title>
  <dc:creator>HP</dc:creator>
  <cp:lastModifiedBy>HP</cp:lastModifiedBy>
  <cp:revision>15</cp:revision>
  <dcterms:created xsi:type="dcterms:W3CDTF">2026-05-02T10:29:04Z</dcterms:created>
  <dcterms:modified xsi:type="dcterms:W3CDTF">2026-05-16T06:38:15Z</dcterms:modified>
</cp:coreProperties>
</file>